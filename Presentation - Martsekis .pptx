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5" r:id="rId12"/>
    <p:sldId id="269" r:id="rId13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5687"/>
  </p:normalViewPr>
  <p:slideViewPr>
    <p:cSldViewPr snapToGrid="0">
      <p:cViewPr varScale="1">
        <p:scale>
          <a:sx n="103" d="100"/>
          <a:sy n="103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D915-FA33-8F43-8FD0-63D7829669CC}" type="datetimeFigureOut">
              <a:rPr lang="en-GR" smtClean="0"/>
              <a:t>9/1/26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86A2-C2DD-814C-9760-B30FB4210DC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5312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1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221998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2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96237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3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55641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4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86927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5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58844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6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84652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7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03945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8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3112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9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1037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10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25489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186A2-C2DD-814C-9760-B30FB4210DC5}" type="slidenum">
              <a:rPr lang="en-GR" smtClean="0"/>
              <a:t>11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1976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1684-5FBA-053E-56C7-8FDF45302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C17AA-261A-AB29-1570-780285B57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5A6FE-7B91-D79C-FCCF-A568C1652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11C5-2699-FF91-FD49-CECEE5F7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68EB3-0072-76F0-E969-87A27AB1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6262045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186D-2FE4-DEBE-9241-A32DD5FF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4F7E-CA17-D97E-56D5-F73538AA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5054-8B5D-8DD6-2AD7-7D077A94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839E6-F491-2F8A-2A45-DB429BEA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1C2FD-E124-931F-9B53-EA6902DA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7740097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0C9A-6ED5-D632-D907-F9CCC9636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A2449-6431-3B6A-F37D-AC8FDE392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130D-D72E-6B5F-F8CA-6CA42B0C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B62E2-3A45-B436-15D8-A49A79E3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A5E89-1E8E-90D1-AF2E-2B71F864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8888681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26EF-B45A-C4F4-3B22-562BFA1E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8AB1F-4186-8865-E21C-0E845C3E2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1EA5C-F1AD-BB8A-506A-2791F23D4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9007E-F0D6-4E74-4B14-59E84FCD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3E384-CCE4-4CB9-29CC-AC124E0B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26AE3-2E88-16B2-0563-F0D2C3D1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4213703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C93E-3CE7-DAE4-9D40-EE501EB8C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125B0-8624-CA53-C331-E32ECCEA8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B3ACC-214F-222A-F26C-EE4AB2D32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949F1-D4B9-C998-0E68-CD1936C0A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3BD3B-B83D-4B22-BE75-E37286B57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E9F89-B200-47C8-C3B6-9D227FD3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A54C7-F215-78F3-C3C6-C91762C7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9D5F9E-888E-2901-2A0F-13E06474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0607042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227E-7896-4FF2-4069-27E19D53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B63ED-0AAD-2654-30D5-2E785AB8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E7F94-335A-9B34-49EA-58363E85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51126-6A49-623F-3F43-2BAE8398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33964268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77227-7A77-356B-3A74-BBEEEDEA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1CE11-899C-51A3-8F0E-CDC1115F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3BBC4-3C09-671F-85D6-2A60233A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32416070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0BD2-1EAA-1A67-1CDC-B5769A55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A95B8-914E-256F-5343-316A38B92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B0548-463A-27C4-DE94-12D1B3EDA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6FB26-85D1-315E-62D6-AB35EC60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47045-9BF8-C810-7CB8-FD98B91E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2C982-5DDA-4EBB-B6A5-096B51AC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6184799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42FC-3BDF-E9A8-0983-F2A392B8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18F81-C150-4C9F-3B6A-4BC8DC8E9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22656-2B52-7DE4-E4BE-B26A5AF17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0C6E7-06C1-13B3-3857-9D0FD212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A91A0-9F29-3093-9D06-795B52B4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8ED67-0D0B-3418-9056-65634310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8505875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44A9-C753-A229-CB3E-625E8C09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FDAB6-CBF8-1FC9-DDAB-75AE7D80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EF0B3-4872-4796-5AAA-DA4AFF799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E1D4-87E8-F401-E1B2-6666D30D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ED342-D73C-00BE-2631-7C1E9073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83330395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09C091-B943-C0AA-3282-5997F7CF2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CD4AD-6A1F-77F0-8979-5D3120198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836A8-3983-2FAF-54CC-67131763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7D490-D6E1-84FA-723A-F817F30B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EDEA-6772-24EE-4FCA-540ABE9F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268812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9F0CB-DBD6-199F-D7E8-11A4D521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F618C-362B-6063-95F3-A6595D383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0F523-9FBF-4E43-9E6F-E67C9944A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61F37-C788-2F47-81C1-BCDDC8126CBF}" type="datetimeFigureOut">
              <a:rPr lang="en-GR" smtClean="0"/>
              <a:t>9/1/26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A49BA-9D83-AC41-2886-58266E4F8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072C3-997E-D5E8-299F-4732EE025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586BF-EE8C-4349-A7DB-9332FA98722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28424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3FE7-52BC-FD38-F09C-4877DA097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C8102E"/>
                </a:solidFill>
                <a:latin typeface="Helvetica" pitchFamily="2" charset="0"/>
              </a:rPr>
              <a:t>Survival Analysis of Glioma Patients Using Kaplan-Meier</a:t>
            </a:r>
            <a:br>
              <a:rPr lang="en-GB" sz="4000" dirty="0">
                <a:solidFill>
                  <a:srgbClr val="C8102E"/>
                </a:solidFill>
                <a:latin typeface="Helvetica" pitchFamily="2" charset="0"/>
              </a:rPr>
            </a:br>
            <a:r>
              <a:rPr lang="en-GB" sz="4000" b="1" dirty="0">
                <a:solidFill>
                  <a:srgbClr val="C8102E"/>
                </a:solidFill>
                <a:latin typeface="Helvetica" pitchFamily="2" charset="0"/>
              </a:rPr>
              <a:t>Estimation and Cox Regression</a:t>
            </a:r>
            <a:br>
              <a:rPr lang="en-GB" sz="4000" dirty="0">
                <a:solidFill>
                  <a:srgbClr val="C8102E"/>
                </a:solidFill>
              </a:rPr>
            </a:br>
            <a:endParaRPr lang="en-GR" sz="4000" dirty="0">
              <a:solidFill>
                <a:srgbClr val="C8102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E6141-5329-A39B-9F21-B3E065366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6097"/>
            <a:ext cx="9144000" cy="1655762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An Exploratory Study Using the Chinese Glioma Genome Atlas (CGGA)</a:t>
            </a:r>
          </a:p>
          <a:p>
            <a:endParaRPr lang="en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9126AC-AC6A-B7AF-F767-20336E3B3B6A}"/>
              </a:ext>
            </a:extLst>
          </p:cNvPr>
          <p:cNvSpPr txBox="1"/>
          <p:nvPr/>
        </p:nvSpPr>
        <p:spPr>
          <a:xfrm>
            <a:off x="5053310" y="3733698"/>
            <a:ext cx="208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Antonios Martsekis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1B02C3-C493-D475-3B8E-236E33C9D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9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3C0B-FCAD-2CD7-1A76-736B1CAE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R" sz="4000" dirty="0">
                <a:solidFill>
                  <a:srgbClr val="C8102E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5F9FC-7970-A977-2E6F-C3E7EB77F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Background</a:t>
            </a:r>
            <a:endParaRPr lang="en-GB" sz="3000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r>
              <a:rPr lang="en-GB" sz="30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Gliomas are heterogeneous brain </a:t>
            </a:r>
            <a:r>
              <a:rPr lang="en-GB" sz="3000" dirty="0" err="1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tumors</a:t>
            </a:r>
            <a:endParaRPr lang="en-GB" sz="3000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r>
              <a:rPr lang="en-GB" sz="30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Survival varies substantially across </a:t>
            </a:r>
            <a:r>
              <a:rPr lang="en-GB" sz="3000" dirty="0" err="1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tumor</a:t>
            </a:r>
            <a:r>
              <a:rPr lang="en-GB" sz="30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 grades</a:t>
            </a:r>
          </a:p>
          <a:p>
            <a:r>
              <a:rPr lang="en-GB" sz="30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Survival data is censored and time-to-event</a:t>
            </a:r>
            <a:endParaRPr lang="el-GR" sz="3000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endParaRPr lang="el-GR" sz="3000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endParaRPr lang="el-GR" sz="3000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endParaRPr lang="en-GB" sz="3000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30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Motivation</a:t>
            </a:r>
            <a:endParaRPr lang="en-GB" sz="3000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r>
              <a:rPr lang="en-GB" sz="30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Survival analysis is essential for clinical prognosis</a:t>
            </a:r>
          </a:p>
          <a:p>
            <a:r>
              <a:rPr lang="en-GB" sz="30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Classical methods remain widely used and interpretable</a:t>
            </a:r>
          </a:p>
          <a:p>
            <a:endParaRPr lang="en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409B1-3542-1842-5D40-14B9F9E28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343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1D85-2F22-66D0-A996-8F7B5B03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8102E"/>
                </a:solidFill>
                <a:latin typeface="Helvetica" pitchFamily="2" charset="0"/>
              </a:rPr>
              <a:t>Study Objectives</a:t>
            </a:r>
            <a:endParaRPr lang="en-GR" sz="4000" dirty="0">
              <a:solidFill>
                <a:srgbClr val="C8102E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5A0AE-29E9-D03B-D106-B5E44927D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Main objective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Compare survival outcomes across WHO grades II, III, and IV</a:t>
            </a:r>
          </a:p>
          <a:p>
            <a:pPr marL="0" indent="0">
              <a:buNone/>
            </a:pPr>
            <a:endParaRPr lang="en-GB" b="1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GB" b="1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Secondary objectives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Assess the effect of age and gender on survival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Evaluate prognostic value using Cox regression</a:t>
            </a:r>
          </a:p>
          <a:p>
            <a:endParaRPr lang="en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31D87-56A2-2D53-AA6C-2587354A4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070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32CB-C3F0-5DF6-E48E-ECA957A5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8102E"/>
                </a:solidFill>
                <a:latin typeface="Helvetica" pitchFamily="2" charset="0"/>
              </a:rPr>
              <a:t>Dataset Description</a:t>
            </a:r>
            <a:endParaRPr lang="en-GR" sz="4000" dirty="0">
              <a:solidFill>
                <a:srgbClr val="C8102E"/>
              </a:solidFill>
              <a:latin typeface="Helvetica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BFFDC8-0439-088F-E42C-272C1EBA8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0705" y="2236602"/>
            <a:ext cx="1061058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Data source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Chinese Glioma Genome Atlas (CGGA)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Cohort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Adult glioma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WHO grades II–IV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R" altLang="en-GR" b="1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R" altLang="en-GR" b="1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R" altLang="en-GR" b="1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Variables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Overall survival (days)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Event indicator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WHO grade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Age, Gender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C9468-8065-3A1E-7AB2-461508D49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960EED-98B3-F695-37D9-B512AEE2DFBB}"/>
              </a:ext>
            </a:extLst>
          </p:cNvPr>
          <p:cNvSpPr txBox="1"/>
          <p:nvPr/>
        </p:nvSpPr>
        <p:spPr>
          <a:xfrm>
            <a:off x="790705" y="5507726"/>
            <a:ext cx="8841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R" altLang="en-GR" sz="2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Final sample:</a:t>
            </a:r>
            <a:r>
              <a:rPr lang="en-GR" altLang="en-G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</a:t>
            </a:r>
            <a:r>
              <a:rPr kumimoji="0" lang="en-GR" altLang="en-GR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280 patients, 182 events</a:t>
            </a:r>
          </a:p>
        </p:txBody>
      </p:sp>
    </p:spTree>
    <p:extLst>
      <p:ext uri="{BB962C8B-B14F-4D97-AF65-F5344CB8AC3E}">
        <p14:creationId xmlns:p14="http://schemas.microsoft.com/office/powerpoint/2010/main" val="120425226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65F0-9403-277E-135F-4453A6F43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8102E"/>
                </a:solidFill>
                <a:latin typeface="Helvetica" pitchFamily="2" charset="0"/>
              </a:rPr>
              <a:t>Data Preparation</a:t>
            </a:r>
            <a:endParaRPr lang="en-GR" sz="4000" dirty="0">
              <a:solidFill>
                <a:srgbClr val="C8102E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093EB-6D1A-939D-1B62-7E9D275B7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Preprocessing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Removed missing WHO grade or survival outcomes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Converted variables to numeric form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Gender recoded as binary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WHO grade treated as categorical (WHO II reference)</a:t>
            </a:r>
          </a:p>
          <a:p>
            <a:pPr marL="0" indent="0">
              <a:buNone/>
            </a:pPr>
            <a:endParaRPr lang="en-GB" b="1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Missing data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Complete-case analysis adopted</a:t>
            </a:r>
          </a:p>
          <a:p>
            <a:endParaRPr lang="en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8B64A-7703-CA3A-6BA2-C54144CF5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3060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40A7-5DC7-BAD8-77C5-A67A1FFF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8102E"/>
                </a:solidFill>
                <a:latin typeface="Helvetica" pitchFamily="2" charset="0"/>
              </a:rPr>
              <a:t>Methods Overview</a:t>
            </a:r>
            <a:endParaRPr lang="en-GR" sz="4000" dirty="0">
              <a:solidFill>
                <a:srgbClr val="C8102E"/>
              </a:solidFill>
              <a:latin typeface="Helvetica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F305F9-2416-D46F-AB25-C2F524C36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5"/>
            <a:ext cx="759053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Analytical approach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Kaplan–Meier survival estimation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Log-rank tests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Cox proportional hazards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Within-grade Cox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Model diagnostics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Concordance index (C-index)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en-GB" dirty="0">
                <a:latin typeface="Helvetica" pitchFamily="2" charset="0"/>
              </a:rPr>
              <a:t>Proportional hazards assumption (discussion)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7B79F-B2A1-421F-6FC6-56EE3E3CE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2814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B146-35D5-761A-CD9B-F5E7BCD51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4270829" cy="4565877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Findings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Clear separation of survival curves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WHO II: best survival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WHO III: intermediate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WHO IV: poorest prognosis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Log-rank test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p &lt; 0.001</a:t>
            </a:r>
          </a:p>
          <a:p>
            <a:endParaRPr lang="en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F10FE7-4D34-6E84-452B-6F72BC1E6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73963"/>
            <a:ext cx="891058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sz="4000" b="0" i="0" u="none" strike="noStrike" cap="none" normalizeH="0" baseline="0" dirty="0">
                <a:ln>
                  <a:noFill/>
                </a:ln>
                <a:solidFill>
                  <a:srgbClr val="C8102E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Kaplan-Meier Analysis by WHO Grade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35827-88F9-E2BD-032A-F3AA14D2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B0812E-2DEF-0E4B-E389-055D277A0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029" y="1588180"/>
            <a:ext cx="6763656" cy="45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9044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F338-92F0-3AB0-1006-5C943687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8102E"/>
                </a:solidFill>
                <a:latin typeface="Helvetica" pitchFamily="2" charset="0"/>
              </a:rPr>
              <a:t>Cox Regression: Overall Model</a:t>
            </a:r>
            <a:endParaRPr lang="en-GR" sz="4000" dirty="0">
              <a:solidFill>
                <a:srgbClr val="C8102E"/>
              </a:solidFill>
              <a:latin typeface="Helvetica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D2B4D6-DF42-DB4D-2630-902DEACDAB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9805"/>
            <a:ext cx="526535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Covariates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Gender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WHO grade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Key results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Age: HR ≈ 1.02 p.y. (p = 0.004)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Gender: not significant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WHO III vs II: HR = 2.57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WHO IV vs II: HR = 5.42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Model performance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C-index = 0.73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C2CB1-6592-6E2E-C512-7F9B5D146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F19D76-D8E3-AE0A-BA96-5BABD3E1D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542" y="1893978"/>
            <a:ext cx="5837621" cy="3384604"/>
          </a:xfrm>
          <a:prstGeom prst="rect">
            <a:avLst/>
          </a:prstGeom>
          <a:ln w="19050">
            <a:solidFill>
              <a:srgbClr val="C8102E"/>
            </a:solidFill>
          </a:ln>
        </p:spPr>
      </p:pic>
    </p:spTree>
    <p:extLst>
      <p:ext uri="{BB962C8B-B14F-4D97-AF65-F5344CB8AC3E}">
        <p14:creationId xmlns:p14="http://schemas.microsoft.com/office/powerpoint/2010/main" val="32960385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4755-FA2F-C883-47FD-6A0CF033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8102E"/>
                </a:solidFill>
                <a:latin typeface="Helvetica" pitchFamily="2" charset="0"/>
              </a:rPr>
              <a:t>Within-Grade Cox Models</a:t>
            </a:r>
            <a:endParaRPr lang="en-GR" sz="4000" dirty="0">
              <a:solidFill>
                <a:srgbClr val="C8102E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A81D9-65C4-E7BD-157F-5D777C9C4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442" y="1824036"/>
            <a:ext cx="5713187" cy="45622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Purpose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Examine age and gender effects within each grade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Results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WHO II: age remains significant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WHO III &amp; IV: no significant demographic effects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Lower C-index due to smaller sample sizes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Interpretation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High-grade survival driven mainly by tumour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74577-887D-6BEF-D587-58243384F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289DF-B26F-49C6-DC61-5A904EF1A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799" y="365123"/>
            <a:ext cx="3936999" cy="2029195"/>
          </a:xfrm>
          <a:prstGeom prst="rect">
            <a:avLst/>
          </a:prstGeom>
          <a:solidFill>
            <a:schemeClr val="tx1"/>
          </a:solidFill>
          <a:ln w="19050" cmpd="sng">
            <a:solidFill>
              <a:srgbClr val="C8102E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B8C3D8-9D99-A102-CD2A-4838B56C2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799" y="2412842"/>
            <a:ext cx="3937001" cy="2170224"/>
          </a:xfrm>
          <a:prstGeom prst="rect">
            <a:avLst/>
          </a:prstGeom>
          <a:ln w="19050">
            <a:solidFill>
              <a:srgbClr val="C8102E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7DD31A-1CA5-7B06-1901-087FA9632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799" y="4583066"/>
            <a:ext cx="3936999" cy="2029195"/>
          </a:xfrm>
          <a:prstGeom prst="rect">
            <a:avLst/>
          </a:prstGeom>
          <a:ln w="19050">
            <a:solidFill>
              <a:srgbClr val="C8102E"/>
            </a:solidFill>
          </a:ln>
        </p:spPr>
      </p:pic>
    </p:spTree>
    <p:extLst>
      <p:ext uri="{BB962C8B-B14F-4D97-AF65-F5344CB8AC3E}">
        <p14:creationId xmlns:p14="http://schemas.microsoft.com/office/powerpoint/2010/main" val="155302243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335A423-49D4-29CF-23B2-0A549ECAF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35464"/>
            <a:ext cx="2664512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sz="4000" i="0" u="none" strike="noStrike" cap="none" normalizeH="0" baseline="0" dirty="0">
                <a:ln>
                  <a:noFill/>
                </a:ln>
                <a:solidFill>
                  <a:srgbClr val="C8102E"/>
                </a:solidFill>
                <a:effectLst/>
                <a:latin typeface="Helvetica" pitchFamily="2" charset="0"/>
              </a:rPr>
              <a:t>Discussion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8B7C3E-E6AE-A0FB-5E47-BFB3BA44F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0"/>
            <a:ext cx="832952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Key insights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WHO grade is the strongest prognostic factor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Age has a modest but consistent effect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Gender not independently associated with survival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R" altLang="en-G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Methodological agreement</a:t>
            </a: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R" altLang="en-G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Kaplan-Meier and Cox results are consistent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R" altLang="en-G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944F4F-672A-25A2-5638-1B468BB41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4582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CBFA-12D9-BAB0-200E-5A153C0D4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R" sz="4000" dirty="0">
                <a:solidFill>
                  <a:srgbClr val="C8102E"/>
                </a:solidFill>
                <a:latin typeface="Helvetica" pitchFamily="2" charset="0"/>
              </a:rPr>
              <a:t>Limitations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F277E-B39C-978E-F05B-D205455D6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Limitations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Missing molecular variables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Small WHO III subgroup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Complete-case analysis</a:t>
            </a:r>
          </a:p>
          <a:p>
            <a:pPr marL="0" indent="0">
              <a:buNone/>
            </a:pPr>
            <a:endParaRPr lang="en-GB" b="1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Conclusion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WHO grade strongly stratifies survival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Classical survival models remain effective and interpretable</a:t>
            </a:r>
          </a:p>
          <a:p>
            <a:endParaRPr lang="en-GR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78C447-17FD-AA9A-9B34-B4EC6C656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9282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6B6E-BEA0-8576-164F-47191A24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1999"/>
            <a:ext cx="10515600" cy="3985202"/>
          </a:xfrm>
        </p:spPr>
        <p:txBody>
          <a:bodyPr>
            <a:normAutofit/>
          </a:bodyPr>
          <a:lstStyle/>
          <a:p>
            <a:pPr algn="ctr"/>
            <a:r>
              <a:rPr lang="en-GR" sz="5400" b="1" dirty="0">
                <a:solidFill>
                  <a:srgbClr val="C8102E"/>
                </a:solidFill>
                <a:latin typeface="Helvetica" pitchFamily="2" charset="0"/>
              </a:rPr>
              <a:t>Thank you for your attention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3E1723-7AB9-C400-7661-B56F639BB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3371" y="6154057"/>
            <a:ext cx="638629" cy="703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291E69-44BA-C799-0FFA-0DA452DC258F}"/>
              </a:ext>
            </a:extLst>
          </p:cNvPr>
          <p:cNvSpPr txBox="1"/>
          <p:nvPr/>
        </p:nvSpPr>
        <p:spPr>
          <a:xfrm>
            <a:off x="3719444" y="4276368"/>
            <a:ext cx="4753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and I welcome any questions!</a:t>
            </a:r>
            <a:endParaRPr lang="en-GR" sz="2400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73939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26042</TotalTime>
  <Words>403</Words>
  <Application>Microsoft Macintosh PowerPoint</Application>
  <PresentationFormat>Widescreen</PresentationFormat>
  <Paragraphs>117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Helvetica</vt:lpstr>
      <vt:lpstr>Office Theme</vt:lpstr>
      <vt:lpstr>Survival Analysis of Glioma Patients Using Kaplan-Meier Estimation and Cox Regression </vt:lpstr>
      <vt:lpstr>Introduction</vt:lpstr>
      <vt:lpstr>Study Objectives</vt:lpstr>
      <vt:lpstr>Dataset Description</vt:lpstr>
      <vt:lpstr>Data Preparation</vt:lpstr>
      <vt:lpstr>Methods Overview</vt:lpstr>
      <vt:lpstr>Kaplan-Meier Analysis by WHO Grade</vt:lpstr>
      <vt:lpstr>Cox Regression: Overall Model</vt:lpstr>
      <vt:lpstr>Within-Grade Cox Models</vt:lpstr>
      <vt:lpstr>Discussion </vt:lpstr>
      <vt:lpstr>Limitations and Conclusion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Antonis Martsekis</dc:creator>
  <cp:lastModifiedBy>Antonis Martsekis</cp:lastModifiedBy>
  <cp:revision>11</cp:revision>
  <dcterms:created xsi:type="dcterms:W3CDTF">2025-12-22T09:55:50Z</dcterms:created>
  <dcterms:modified xsi:type="dcterms:W3CDTF">2026-01-09T11:58:31Z</dcterms:modified>
</cp:coreProperties>
</file>